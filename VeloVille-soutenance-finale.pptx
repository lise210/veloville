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002" autoAdjust="0"/>
  </p:normalViewPr>
  <p:slideViewPr>
    <p:cSldViewPr snapToGrid="0">
      <p:cViewPr varScale="1">
        <p:scale>
          <a:sx n="81" d="100"/>
          <a:sy n="81" d="100"/>
        </p:scale>
        <p:origin x="17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8534E3-06F4-4CEE-A5A2-72FB4CEE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F29FF4D-FA35-4E5F-88C5-A8F318AAD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F0C4605-7078-4D36-BC3D-778F0730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3C48413-F848-4FF7-8015-2CAF45B0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3BB3D2E-291E-4428-8F67-868667D4D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2289C04-6736-4BD3-8314-791C4025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F7E6C63-0765-450D-ACF9-D93B04581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D6979FC-A05A-4E3E-989F-3DD76915D84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EF1FA7-0F9A-499D-BDA1-855ADB21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F8861AA-5C8F-49CA-86C6-066F79D0F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1E6178-2F9C-4845-ADC6-ED9A12CB1DD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01  CONTEXTE ET PÉRIMÈTRE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53E7DE-B9F6-4BF8-B817-393948DB5531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VéloVille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E9845-4FFE-48AD-9891-B8239B6F47DA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C6A546-6AD6-4285-829D-60E9597A51E7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01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B5491-6BBF-4AD6-94B8-5F3E8D5CCBA2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8585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Fiabiliser les données</a:t>
            </a:r>
          </a:p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et suivre l’activité des vélos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88627-C7BA-4CCC-8936-78613D4F658C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400" b="0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745C"/>
                </a:solidFill>
                <a:latin typeface="Arial"/>
                <a:ea typeface="Arial"/>
                <a:cs typeface="Arial"/>
              </a:rPr>
              <a:t>3 ressources : stations, trajets et incidents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F0419-150A-4A5B-AB21-EBB3AC64E2E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2 profils : exploitant et direction</a:t>
            </a:r>
          </a:p>
        </p:txBody>
      </p:sp>
    </p:spTree>
    <p:extLst>
      <p:ext uri="{BB962C8B-B14F-4D97-AF65-F5344CB8AC3E}">
        <p14:creationId xmlns:p14="http://schemas.microsoft.com/office/powerpoint/2010/main" val="186624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8F0D81-0458-40AA-8B56-10BF07A5EA0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01  CONTEXTE ET PÉRIMÈTRE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505DC5-1562-4E64-ADD7-9BAA20DDB6DA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Architecture et périmètre livré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2BEBF-FAC0-4971-A452-F6E63961873D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6F69A9-8129-45F3-B120-ED987E973AF6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02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982D3D-072D-4D97-AEAC-0699F41E6D4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2861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9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B6651-2C90-494D-995F-7F4B4F5956EF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328612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4 écrans</a:t>
            </a:r>
          </a:p>
          <a:p>
            <a: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Formulaires et tableaux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6F8C79-03F5-4809-8A6A-71C068C7E3C4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2861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9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16CF7A-E968-4426-8D4B-EDACE83C327C}"/>
              </a:ext>
            </a:extLst>
          </p:cNvPr>
          <p:cNvSpPr>
            <a:spLocks noGrp="1"/>
          </p:cNvSpPr>
          <p:nvPr/>
        </p:nvSpPr>
        <p:spPr>
          <a:xfrm>
            <a:off x="4381500" y="2876550"/>
            <a:ext cx="328612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JWT et contrôle du rôle</a:t>
            </a:r>
          </a:p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Services et contrôles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AA9553-DD11-4366-94AC-1857F746E01A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9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0D1C6-7C80-4713-854E-AABD779A72E5}"/>
              </a:ext>
            </a:extLst>
          </p:cNvPr>
          <p:cNvSpPr>
            <a:spLocks noGrp="1"/>
          </p:cNvSpPr>
          <p:nvPr/>
        </p:nvSpPr>
        <p:spPr>
          <a:xfrm>
            <a:off x="8153400" y="2876550"/>
            <a:ext cx="342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4 tables, CHECK et FK</a:t>
            </a:r>
          </a:p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Données et agrégations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6500DE-AD02-4777-88B6-980A52D9295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C65"/>
                </a:solidFill>
                <a:latin typeface="Arial"/>
                <a:ea typeface="Arial"/>
                <a:cs typeface="Arial"/>
              </a:rPr>
              <a:t>CSV : audit, fiabilisation, puis import vers PostgreSQL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BA91C4-01C0-4E86-99D0-645BA891E1CE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3 indicateurs : trajets par jour, stations actives, incidents et délai moyen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641108-2F05-483D-83C6-50774F1CA099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8A511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8A511C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8A511C"/>
                </a:solidFill>
                <a:latin typeface="Arial"/>
                <a:ea typeface="Arial"/>
                <a:cs typeface="Arial"/>
              </a:rPr>
              <a:t>Livré</a:t>
            </a:r>
            <a:r>
              <a:rPr sz="1725" b="0" dirty="0">
                <a:solidFill>
                  <a:srgbClr val="8A511C"/>
                </a:solidFill>
                <a:latin typeface="Arial"/>
                <a:ea typeface="Arial"/>
                <a:cs typeface="Arial"/>
              </a:rPr>
              <a:t> : import, API et front.</a:t>
            </a:r>
          </a:p>
          <a:p>
            <a:pPr>
              <a:defRPr sz="1725" b="0">
                <a:solidFill>
                  <a:srgbClr val="8A511C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8A511C"/>
                </a:solidFill>
                <a:latin typeface="Arial"/>
                <a:ea typeface="Arial"/>
                <a:cs typeface="Arial"/>
              </a:rPr>
              <a:t>Hors </a:t>
            </a:r>
            <a:r>
              <a:rPr sz="1725" b="0" dirty="0" err="1">
                <a:solidFill>
                  <a:srgbClr val="8A511C"/>
                </a:solidFill>
                <a:latin typeface="Arial"/>
                <a:ea typeface="Arial"/>
                <a:cs typeface="Arial"/>
              </a:rPr>
              <a:t>périmètre</a:t>
            </a:r>
            <a:r>
              <a:rPr sz="1725" b="0" dirty="0">
                <a:solidFill>
                  <a:srgbClr val="8A511C"/>
                </a:solidFill>
                <a:latin typeface="Arial"/>
                <a:ea typeface="Arial"/>
                <a:cs typeface="Arial"/>
              </a:rPr>
              <a:t> : </a:t>
            </a:r>
            <a:r>
              <a:rPr sz="1725" b="0" dirty="0" err="1">
                <a:solidFill>
                  <a:srgbClr val="8A511C"/>
                </a:solidFill>
                <a:latin typeface="Arial"/>
                <a:ea typeface="Arial"/>
                <a:cs typeface="Arial"/>
              </a:rPr>
              <a:t>météo</a:t>
            </a:r>
            <a:r>
              <a:rPr sz="1725" b="0" dirty="0">
                <a:solidFill>
                  <a:srgbClr val="8A511C"/>
                </a:solidFill>
                <a:latin typeface="Arial"/>
                <a:ea typeface="Arial"/>
                <a:cs typeface="Arial"/>
              </a:rPr>
              <a:t> et anticipation.</a:t>
            </a:r>
          </a:p>
        </p:txBody>
      </p:sp>
    </p:spTree>
    <p:extLst>
      <p:ext uri="{BB962C8B-B14F-4D97-AF65-F5344CB8AC3E}">
        <p14:creationId xmlns:p14="http://schemas.microsoft.com/office/powerpoint/2010/main" val="1348997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D0CAA0-F74C-4B32-B161-A292744CCAB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02  DÉMONSTRATION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B572F4-01BC-4FAE-BBE6-0A2D20CB73C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L’audit et l’import des données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B9BA2-2E3B-4484-86CF-1BCA3B1F9D2F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7A060C-2AEC-41B9-8CF1-218DCFDC843E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03 / 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67CBD3-D49D-473E-9570-1A8AFD0DA44F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72800" cy="2647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def normaliser_statut(statut):</a:t>
            </a:r>
          </a:p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if statut is None:</a:t>
            </a:r>
          </a:p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    raise ValueError("Statut absent")</a:t>
            </a:r>
          </a:p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statut_normalise = statut.strip().lower().replace(" ", "_")</a:t>
            </a:r>
          </a:p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if statut_normalise not in ["ouvert", "en_cours", "resolu"]:</a:t>
            </a:r>
          </a:p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    raise ValueError("Statut non reconnu")</a:t>
            </a:r>
          </a:p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return statut_normalise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7D0F6-436D-4586-B683-58A8DEC44FC6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Normalisation, rejet, doublon ou avertissement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597D7-9E70-475B-8A13-CEC1BA6ED0A3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Journal : 192 messages, dont 19 rejets et 12 doublons écartés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A361B8-ECBC-459B-AC79-26FAFBEB5C2E}"/>
              </a:ext>
            </a:extLst>
          </p:cNvPr>
          <p:cNvSpPr>
            <a:spLocks noGrp="1"/>
          </p:cNvSpPr>
          <p:nvPr/>
        </p:nvSpPr>
        <p:spPr>
          <a:xfrm>
            <a:off x="609600" y="58388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Après import : 120 stations, 2 002 trajets, 177 incidents</a:t>
            </a:r>
          </a:p>
        </p:txBody>
      </p:sp>
    </p:spTree>
    <p:extLst>
      <p:ext uri="{BB962C8B-B14F-4D97-AF65-F5344CB8AC3E}">
        <p14:creationId xmlns:p14="http://schemas.microsoft.com/office/powerpoint/2010/main" val="148400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FB42BF-981C-48E9-974C-99534CC82D6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02  DÉMONSTRATION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BB5BCA-3D7E-492C-96F7-54B8119A2A43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La connexion et les droits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56A649-2E98-4103-A6EE-76AE74FBDB6C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0C2217-6F89-4976-B5D3-D9CC93693AAC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04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9F299-7E3D-467C-BD39-997F23B7D580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667375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Exploitant : lecture et modification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CFC1AF-3EC2-48A5-A2C8-B25A88374018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5667375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Direction : lecture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EBCDAA-5711-454D-BB5B-3325700BD400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5667375" cy="6000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401 : authentification absente ou invalide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E01B1-1245-4A9B-80CF-890B25CE98D5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5667375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403 : rôle insuffisant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AEA9AA-535E-4CC8-A47F-6B65AB5EE732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5667375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Succès exploitant : 200, statut en_cours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0EFFB0-FC79-4128-B9E6-06D80E9CF647}"/>
              </a:ext>
            </a:extLst>
          </p:cNvPr>
          <p:cNvSpPr>
            <a:spLocks noGrp="1"/>
          </p:cNvSpPr>
          <p:nvPr/>
        </p:nvSpPr>
        <p:spPr>
          <a:xfrm>
            <a:off x="6715125" y="2066925"/>
            <a:ext cx="485775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Réponse attendue avec direction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BEEE30-3BE9-4C14-AFE0-6FEFE0A654C8}"/>
              </a:ext>
            </a:extLst>
          </p:cNvPr>
          <p:cNvSpPr>
            <a:spLocks noGrp="1"/>
          </p:cNvSpPr>
          <p:nvPr/>
        </p:nvSpPr>
        <p:spPr>
          <a:xfrm>
            <a:off x="6715125" y="27241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650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PUT /incidents/I2026-0065/statut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AD2EDB-7F05-49CC-AB3F-3B2A543E9693}"/>
              </a:ext>
            </a:extLst>
          </p:cNvPr>
          <p:cNvSpPr>
            <a:spLocks noGrp="1"/>
          </p:cNvSpPr>
          <p:nvPr/>
        </p:nvSpPr>
        <p:spPr>
          <a:xfrm>
            <a:off x="6715125" y="3371850"/>
            <a:ext cx="485775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21C43B-1B4F-47C4-A9D0-DDF382AE4D27}"/>
              </a:ext>
            </a:extLst>
          </p:cNvPr>
          <p:cNvSpPr>
            <a:spLocks noGrp="1"/>
          </p:cNvSpPr>
          <p:nvPr/>
        </p:nvSpPr>
        <p:spPr>
          <a:xfrm>
            <a:off x="6715125" y="4410075"/>
            <a:ext cx="4857750" cy="885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5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{"detail":</a:t>
            </a:r>
          </a:p>
          <a:p>
            <a:pPr>
              <a:defRPr sz="15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"Acces reserve au role exploitant"}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EDC928-D778-4B60-BF2D-566EBEAE200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87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Depends(exiger_role("exploitant"))</a:t>
            </a:r>
          </a:p>
        </p:txBody>
      </p:sp>
    </p:spTree>
    <p:extLst>
      <p:ext uri="{BB962C8B-B14F-4D97-AF65-F5344CB8AC3E}">
        <p14:creationId xmlns:p14="http://schemas.microsoft.com/office/powerpoint/2010/main" val="164990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82FC83D-BA25-4988-ABD2-E784E7D325D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02  DÉMONSTRATION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6811B-6B68-4C62-83C2-42DF112C345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Les quatre écrans Streamlit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EB9EE9-9443-444F-A800-47800DAA5BF7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4B14AC-4983-4371-A4DC-D63ACD4ED59D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05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D736FC-1D4D-45EF-94EF-ED7E946CBD34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54864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142C28"/>
                </a:solidFill>
                <a:latin typeface="Arial"/>
                <a:ea typeface="Arial"/>
                <a:cs typeface="Arial"/>
              </a:rPr>
              <a:t>Connexion</a:t>
            </a:r>
            <a:r>
              <a:rPr sz="2100" b="0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 : mot de passe </a:t>
            </a:r>
            <a:r>
              <a:rPr sz="2100" b="0" dirty="0" err="1">
                <a:solidFill>
                  <a:srgbClr val="142C28"/>
                </a:solidFill>
                <a:latin typeface="Arial"/>
                <a:ea typeface="Arial"/>
                <a:cs typeface="Arial"/>
              </a:rPr>
              <a:t>masqué</a:t>
            </a:r>
            <a:r>
              <a:rPr sz="2100" b="0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, session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10BEAD-F304-4860-89AF-BB6368DB4103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334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Stations : commune et pagination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0AACA1-BA54-43D9-8000-1CC43E72F203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5334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Incidents : </a:t>
            </a:r>
            <a:r>
              <a:rPr sz="2100" b="0" dirty="0" err="1">
                <a:solidFill>
                  <a:srgbClr val="142C28"/>
                </a:solidFill>
                <a:latin typeface="Arial"/>
                <a:ea typeface="Arial"/>
                <a:cs typeface="Arial"/>
              </a:rPr>
              <a:t>filtre</a:t>
            </a:r>
            <a:r>
              <a:rPr sz="2100" b="0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 et </a:t>
            </a:r>
            <a:r>
              <a:rPr sz="2100" b="0" dirty="0" err="1">
                <a:solidFill>
                  <a:srgbClr val="142C28"/>
                </a:solidFill>
                <a:latin typeface="Arial"/>
                <a:ea typeface="Arial"/>
                <a:cs typeface="Arial"/>
              </a:rPr>
              <a:t>suivi</a:t>
            </a:r>
            <a:r>
              <a:rPr sz="2100" b="0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 du </a:t>
            </a:r>
            <a:r>
              <a:rPr sz="2100" b="0" dirty="0" err="1">
                <a:solidFill>
                  <a:srgbClr val="142C28"/>
                </a:solidFill>
                <a:latin typeface="Arial"/>
                <a:ea typeface="Arial"/>
                <a:cs typeface="Arial"/>
              </a:rPr>
              <a:t>statut</a:t>
            </a:r>
            <a:endParaRPr sz="2100" b="0" dirty="0">
              <a:solidFill>
                <a:srgbClr val="142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F51DF2-625E-4442-A101-72ACF27474E1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5334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Indicateurs : 3 métriques, 3 tableaux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13B9ED4-5E22-48BC-84CD-5681DFDD6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88794" y="2057400"/>
            <a:ext cx="6018522" cy="30861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A1C1A95-8244-4B2A-B7B8-BF8026C078E0}"/>
              </a:ext>
            </a:extLst>
          </p:cNvPr>
          <p:cNvSpPr>
            <a:spLocks noGrp="1"/>
          </p:cNvSpPr>
          <p:nvPr/>
        </p:nvSpPr>
        <p:spPr>
          <a:xfrm>
            <a:off x="609600" y="58388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Chargement, résultat vide et erreur : des messages en français</a:t>
            </a:r>
          </a:p>
        </p:txBody>
      </p:sp>
    </p:spTree>
    <p:extLst>
      <p:ext uri="{BB962C8B-B14F-4D97-AF65-F5344CB8AC3E}">
        <p14:creationId xmlns:p14="http://schemas.microsoft.com/office/powerpoint/2010/main" val="175020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D396CD-8BE7-4B54-8CE4-0FDFCF1298B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02  DÉMONSTRATION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824149-4B05-40FF-B918-84D1C56086A7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Un indicateur contrôlé avec SQL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A9A7F-7E47-4FD5-9A92-6D9490F490D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8DD97-D495-4438-886B-8B95046E1531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06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567E4A-2441-426B-BCCA-D9EF72FFE261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Même période : du 24 au 30 août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F19A8A-FC81-4ACA-A8F9-667742B29BB8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6096000" cy="2609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SELECT </a:t>
            </a:r>
            <a:r>
              <a:rPr lang="fr-FR"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CAST(</a:t>
            </a:r>
            <a:r>
              <a:rPr sz="1725" b="0" dirty="0" err="1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depart_horodatage</a:t>
            </a:r>
            <a:r>
              <a:rPr lang="fr-FR" sz="1725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AS DATE)</a:t>
            </a: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AS jour,</a:t>
            </a:r>
          </a:p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   COUNT(*) AS </a:t>
            </a:r>
            <a:r>
              <a:rPr sz="1725" b="0" dirty="0" err="1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nb_trajets</a:t>
            </a:r>
            <a:endParaRPr sz="1725" b="0" dirty="0">
              <a:solidFill>
                <a:srgbClr val="142C28"/>
              </a:solidFill>
              <a:latin typeface="Consolas"/>
              <a:ea typeface="Consolas"/>
              <a:cs typeface="Consolas"/>
            </a:endParaRPr>
          </a:p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FROM </a:t>
            </a:r>
            <a:r>
              <a:rPr sz="1725" b="0" dirty="0" err="1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trajet</a:t>
            </a:r>
            <a:endParaRPr sz="1725" b="0" dirty="0">
              <a:solidFill>
                <a:srgbClr val="142C28"/>
              </a:solidFill>
              <a:latin typeface="Consolas"/>
              <a:ea typeface="Consolas"/>
              <a:cs typeface="Consolas"/>
            </a:endParaRPr>
          </a:p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WHERE </a:t>
            </a:r>
            <a:r>
              <a:rPr lang="fr-FR"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CAST(</a:t>
            </a:r>
            <a:r>
              <a:rPr sz="1725" b="0" dirty="0" err="1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depart_horodatage</a:t>
            </a:r>
            <a:r>
              <a:rPr lang="fr-FR"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AS DATE)</a:t>
            </a:r>
            <a:endParaRPr sz="1725" b="0" dirty="0">
              <a:solidFill>
                <a:srgbClr val="142C28"/>
              </a:solidFill>
              <a:latin typeface="Consolas"/>
              <a:ea typeface="Consolas"/>
              <a:cs typeface="Consolas"/>
            </a:endParaRPr>
          </a:p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  BETWEEN '2026-08-24'</a:t>
            </a:r>
          </a:p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          AND '2026-08-30'</a:t>
            </a:r>
          </a:p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GROUP BY jour</a:t>
            </a:r>
          </a:p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ORDER BY jour;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F63A7C1-D669-48E7-A2D5-562ECB0D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0" t="71400" r="36000" b="1000"/>
          <a:stretch/>
        </p:blipFill>
        <p:spPr>
          <a:xfrm>
            <a:off x="7239000" y="2638425"/>
            <a:ext cx="4333875" cy="32099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FC672D7-4082-48C1-9297-076D00D37E9C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6334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Référence : 329 le 24 août, 2 002 sur la période</a:t>
            </a:r>
          </a:p>
        </p:txBody>
      </p:sp>
    </p:spTree>
    <p:extLst>
      <p:ext uri="{BB962C8B-B14F-4D97-AF65-F5344CB8AC3E}">
        <p14:creationId xmlns:p14="http://schemas.microsoft.com/office/powerpoint/2010/main" val="677251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68CF7D-5BDC-46E3-87F9-0E6261BDE57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02  DÉMONSTRATION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6272-4F9E-4101-ABB9-9683350D8286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Les tests et leur couverture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DD7F05-DF0B-486B-8F20-6F3B0FC32857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15FC4-AF97-4FA8-9F38-E255591C539A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07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218F8-8783-498F-A473-68959026C4E2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4953000" cy="1171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6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66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95 %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236BB-232B-4F31-89F5-BB12394BE0F5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5381625" cy="5810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Couverture globale de référence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FC27FE-EC59-4CBB-9EFD-96687B2FEADB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5381625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Incidents : 57 %</a:t>
            </a:r>
          </a:p>
          <a:p>
            <a:pPr>
              <a:defRPr sz="210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Transitions et écritures à mieux couvrir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1AFA91-5D4E-495A-A4B8-9D193EA3409A}"/>
              </a:ext>
            </a:extLst>
          </p:cNvPr>
          <p:cNvSpPr>
            <a:spLocks noGrp="1"/>
          </p:cNvSpPr>
          <p:nvPr/>
        </p:nvSpPr>
        <p:spPr>
          <a:xfrm>
            <a:off x="6715125" y="212407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Tests unitaires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4E059F-B33D-4E6C-BE09-F37008512075}"/>
              </a:ext>
            </a:extLst>
          </p:cNvPr>
          <p:cNvSpPr>
            <a:spLocks noGrp="1"/>
          </p:cNvSpPr>
          <p:nvPr/>
        </p:nvSpPr>
        <p:spPr>
          <a:xfrm>
            <a:off x="6715125" y="26670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Règles pures et réponses simulées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E8992E-466A-4D43-BB98-371F9C796E05}"/>
              </a:ext>
            </a:extLst>
          </p:cNvPr>
          <p:cNvSpPr>
            <a:spLocks noGrp="1"/>
          </p:cNvSpPr>
          <p:nvPr/>
        </p:nvSpPr>
        <p:spPr>
          <a:xfrm>
            <a:off x="6715125" y="361950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Tests d’intégration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A2D246-D239-4DB2-99E3-00890DD778A5}"/>
              </a:ext>
            </a:extLst>
          </p:cNvPr>
          <p:cNvSpPr>
            <a:spLocks noGrp="1"/>
          </p:cNvSpPr>
          <p:nvPr/>
        </p:nvSpPr>
        <p:spPr>
          <a:xfrm>
            <a:off x="6715125" y="4162425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Routes HTTP et agrégats PostgreSQL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C7B7E6-7B19-498A-8FFF-7449E0B73290}"/>
              </a:ext>
            </a:extLst>
          </p:cNvPr>
          <p:cNvSpPr>
            <a:spLocks noGrp="1"/>
          </p:cNvSpPr>
          <p:nvPr/>
        </p:nvSpPr>
        <p:spPr>
          <a:xfrm>
            <a:off x="6715125" y="51149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Minimum demandé : 60 %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A9410A-8CD7-457A-A6A8-40B47A2F10A1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725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python -m pytest --cov=api/services --cov-report=term-missing</a:t>
            </a:r>
          </a:p>
        </p:txBody>
      </p:sp>
    </p:spTree>
    <p:extLst>
      <p:ext uri="{BB962C8B-B14F-4D97-AF65-F5344CB8AC3E}">
        <p14:creationId xmlns:p14="http://schemas.microsoft.com/office/powerpoint/2010/main" val="1710990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D1BEF24-15AE-4EC1-868F-1F87806149E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03  CHOIX TECHNIQUES ET QUALITÉ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AA6EEE-461E-4CC1-8981-5608B340007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Les choix techniques et la qualité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EE4F6-A561-4910-A7EA-23F3C5A19500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4D57DA-A4B7-4AA7-BF12-67B9DAEAE22B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8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533953-7408-4A70-8DFB-8183165BE8E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429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Organisation du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6E1628-3CDF-4060-8079-58DB91F570F2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429250" cy="12477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Routeurs et dépendances</a:t>
            </a:r>
          </a:p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Services et modèles SQLAlchemy</a:t>
            </a:r>
          </a:p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Client HTTP centralisé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AC4B4-530A-401E-ADC1-937343BD7EE2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54292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Tests complémentaires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01C23-89FD-4358-8607-8050702E97F9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5429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Unitaires : règles et simulations</a:t>
            </a:r>
          </a:p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Intégration : API et PostgreSQL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0E2909-AA6D-4E87-89F4-6F13A2FE9764}"/>
              </a:ext>
            </a:extLst>
          </p:cNvPr>
          <p:cNvSpPr>
            <a:spLocks noGrp="1"/>
          </p:cNvSpPr>
          <p:nvPr/>
        </p:nvSpPr>
        <p:spPr>
          <a:xfrm>
            <a:off x="6715125" y="20002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Écoconception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2442AD-F319-46F4-BC61-B0DA98EF6EE1}"/>
              </a:ext>
            </a:extLst>
          </p:cNvPr>
          <p:cNvSpPr>
            <a:spLocks noGrp="1"/>
          </p:cNvSpPr>
          <p:nvPr/>
        </p:nvSpPr>
        <p:spPr>
          <a:xfrm>
            <a:off x="6715125" y="2552700"/>
            <a:ext cx="4857750" cy="16287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Pagination : 20 par défaut, max. 100</a:t>
            </a:r>
          </a:p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Cache des communes : 1 heure</a:t>
            </a:r>
          </a:p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Actualisation à la demande</a:t>
            </a:r>
          </a:p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Agrégations SQL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960651-EF09-4A30-8A11-4EE3996A10DB}"/>
              </a:ext>
            </a:extLst>
          </p:cNvPr>
          <p:cNvSpPr>
            <a:spLocks noGrp="1"/>
          </p:cNvSpPr>
          <p:nvPr/>
        </p:nvSpPr>
        <p:spPr>
          <a:xfrm>
            <a:off x="6715125" y="45910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Sécurité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1A201E-5019-4788-9F8B-4077CBAD7923}"/>
              </a:ext>
            </a:extLst>
          </p:cNvPr>
          <p:cNvSpPr>
            <a:spLocks noGrp="1"/>
          </p:cNvSpPr>
          <p:nvPr/>
        </p:nvSpPr>
        <p:spPr>
          <a:xfrm>
            <a:off x="6715125" y="5143500"/>
            <a:ext cx="4857750" cy="8477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bcrypt, JWT signé et expiration</a:t>
            </a:r>
          </a:p>
          <a:p>
            <a:pPr>
              <a:defRPr sz="19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Rôle vérifié côté API, .env local</a:t>
            </a:r>
          </a:p>
        </p:txBody>
      </p:sp>
    </p:spTree>
    <p:extLst>
      <p:ext uri="{BB962C8B-B14F-4D97-AF65-F5344CB8AC3E}">
        <p14:creationId xmlns:p14="http://schemas.microsoft.com/office/powerpoint/2010/main" val="123329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D1BEF24-15AE-4EC1-868F-1F87806149E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03  CHOIX TECHNIQUES ET QUALITÉ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AA6EEE-461E-4CC1-8981-5608B340007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La recette et les corrections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EE4F6-A561-4910-A7EA-23F3C5A19500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4D57DA-A4B7-4AA7-BF12-67B9DAEAE22B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09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A2BDB130-E1FB-430D-AF86-004BF6BF9B2C}"/>
              </a:ext>
            </a:extLst>
          </p:cNvPr>
          <p:cNvGraphicFramePr/>
          <p:nvPr/>
        </p:nvGraphicFramePr>
        <p:xfrm>
          <a:off x="609600" y="2047875"/>
          <a:ext cx="10972800" cy="190500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Passage</a:t>
                      </a:r>
                    </a:p>
                  </a:txBody>
                  <a:tcPr>
                    <a:lnL w="9525">
                      <a:solidFill>
                        <a:srgbClr val="B9CABE"/>
                      </a:solidFill>
                      <a:prstDash val="soli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>
                      <a:solidFill>
                        <a:srgbClr val="B9CABE"/>
                      </a:solidFill>
                      <a:prstDash val="soli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147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OK</a:t>
                      </a:r>
                    </a:p>
                  </a:txBody>
                  <a:tcPr>
                    <a:lnL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>
                      <a:solidFill>
                        <a:srgbClr val="B9CABE"/>
                      </a:solidFill>
                      <a:prstDash val="soli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147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</a:t>
                      </a:r>
                    </a:p>
                  </a:txBody>
                  <a:tcPr>
                    <a:lnL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>
                      <a:solidFill>
                        <a:srgbClr val="B9CABE"/>
                      </a:solidFill>
                      <a:prstDash val="soli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147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C28"/>
                          </a:solidFill>
                          <a:latin typeface="Arial"/>
                          <a:ea typeface="Arial"/>
                          <a:cs typeface="Arial"/>
                        </a:rPr>
                        <a:t>Recette initiale</a:t>
                      </a:r>
                    </a:p>
                  </a:txBody>
                  <a:tcPr>
                    <a:lnL w="9525">
                      <a:solidFill>
                        <a:srgbClr val="B9CABE"/>
                      </a:solidFill>
                      <a:prstDash val="soli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C2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C2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C28"/>
                          </a:solidFill>
                          <a:latin typeface="Arial"/>
                          <a:ea typeface="Arial"/>
                          <a:cs typeface="Arial"/>
                        </a:rPr>
                        <a:t>Après corrections et rejeux</a:t>
                      </a:r>
                    </a:p>
                  </a:txBody>
                  <a:tcPr>
                    <a:lnL w="9525">
                      <a:solidFill>
                        <a:srgbClr val="B9CABE"/>
                      </a:solidFill>
                      <a:prstDash val="soli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C28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2C2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ABE"/>
                      </a:solidFill>
                      <a:prstDash val="solid"/>
                    </a:lnR>
                    <a:lnT w="9525" cap="flat" cmpd="sng" algn="ctr">
                      <a:solidFill>
                        <a:srgbClr val="B9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ABE"/>
                      </a:solidFill>
                      <a:prstDash val="solid"/>
                    </a:lnB>
                    <a:solidFill>
                      <a:srgbClr val="EE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5ECE1E99-A215-4032-87D0-FDE4FD6DF3F8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ANO-001 : texte du refus 403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3AF3E6-D2B9-4B4B-8580-DB8308B5B50A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ANO-002 : texte du 404 Station introuvable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B8AA5-BF06-4861-917D-738E08DC77B7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Fiche, correction, test de non-régression et rejeu</a:t>
            </a:r>
          </a:p>
        </p:txBody>
      </p:sp>
    </p:spTree>
    <p:extLst>
      <p:ext uri="{BB962C8B-B14F-4D97-AF65-F5344CB8AC3E}">
        <p14:creationId xmlns:p14="http://schemas.microsoft.com/office/powerpoint/2010/main" val="123329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D1BEF24-15AE-4EC1-868F-1F87806149E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03  CHOIX TECHNIQUES ET QUALITÉ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AA6EEE-461E-4CC1-8981-5608B340007D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Les versions et la traçabilité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EE4F6-A561-4910-A7EA-23F3C5A19500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4D57DA-A4B7-4AA7-BF12-67B9DAEAE22B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0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/ 1</a:t>
            </a: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110FA6-DDA7-47E3-B427-A91EEC8088B3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Branches de travail </a:t>
            </a:r>
            <a:r>
              <a:rPr sz="2400" b="1" dirty="0" err="1">
                <a:solidFill>
                  <a:srgbClr val="14745C"/>
                </a:solidFill>
                <a:latin typeface="Arial"/>
                <a:ea typeface="Arial"/>
                <a:cs typeface="Arial"/>
              </a:rPr>
              <a:t>fusionnées</a:t>
            </a:r>
            <a:r>
              <a:rPr sz="2400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 dans main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3025A-AE06-462B-A665-2BEF5EAF5E1B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C28"/>
                </a:solidFill>
                <a:latin typeface="Arial"/>
                <a:ea typeface="Arial"/>
                <a:cs typeface="Arial"/>
              </a:rPr>
              <a:t>CHANGELOG et tags jusqu’à v0.0.9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54FAF-2F0A-464C-BDFC-35CF5C2E2158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lang="fr-FR" sz="2700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Dernier commit </a:t>
            </a:r>
            <a:r>
              <a:rPr sz="2700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: </a:t>
            </a:r>
            <a:r>
              <a:rPr lang="fr-FR" sz="270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623e57b6c7bbb5d94ea184dfb9c9aca0e8f5bb91</a:t>
            </a:r>
            <a:endParaRPr sz="2700" b="1" dirty="0">
              <a:solidFill>
                <a:srgbClr val="1474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250BC-D516-4A6F-B041-6BC1C6CA1209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lang="fr-FR" sz="2025" b="0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Actualiser les documents</a:t>
            </a:r>
            <a:endParaRPr sz="2025" b="0" dirty="0">
              <a:solidFill>
                <a:srgbClr val="142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86DC66-9CD3-4997-885A-9131B187BCE9}"/>
              </a:ext>
            </a:extLst>
          </p:cNvPr>
          <p:cNvSpPr>
            <a:spLocks noGrp="1"/>
          </p:cNvSpPr>
          <p:nvPr/>
        </p:nvSpPr>
        <p:spPr>
          <a:xfrm>
            <a:off x="609600" y="5201392"/>
            <a:ext cx="10972800" cy="1085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800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lang="fr-FR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g</a:t>
            </a:r>
            <a:r>
              <a:rPr lang="fr-FR" sz="1800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it </a:t>
            </a:r>
            <a:r>
              <a:rPr lang="fr-FR" sz="1800" b="0" dirty="0" err="1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status</a:t>
            </a:r>
            <a:endParaRPr lang="fr-FR" sz="1800" b="0" dirty="0">
              <a:solidFill>
                <a:srgbClr val="142C28"/>
              </a:solidFill>
              <a:latin typeface="Consolas"/>
              <a:ea typeface="Consolas"/>
              <a:cs typeface="Consolas"/>
            </a:endParaRPr>
          </a:p>
          <a:p>
            <a:pPr>
              <a:defRPr sz="1800" b="0">
                <a:solidFill>
                  <a:srgbClr val="142C28"/>
                </a:solidFill>
                <a:latin typeface="Consolas"/>
                <a:ea typeface="Consolas"/>
                <a:cs typeface="Consolas"/>
              </a:defRPr>
            </a:pPr>
            <a:r>
              <a:rPr lang="fr-FR" sz="1800" b="0" dirty="0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git log -1 --</a:t>
            </a:r>
            <a:r>
              <a:rPr lang="fr-FR" sz="1800" b="0" dirty="0" err="1">
                <a:solidFill>
                  <a:srgbClr val="142C28"/>
                </a:solidFill>
                <a:latin typeface="Consolas"/>
                <a:ea typeface="Consolas"/>
                <a:cs typeface="Consolas"/>
              </a:rPr>
              <a:t>oneline</a:t>
            </a:r>
            <a:endParaRPr sz="1800" b="0" dirty="0">
              <a:solidFill>
                <a:srgbClr val="142C2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07F45-3EE0-7C6E-44E5-06B71E7229C2}"/>
              </a:ext>
            </a:extLst>
          </p:cNvPr>
          <p:cNvSpPr>
            <a:spLocks noGrp="1"/>
          </p:cNvSpPr>
          <p:nvPr/>
        </p:nvSpPr>
        <p:spPr>
          <a:xfrm>
            <a:off x="6096000" y="4866657"/>
            <a:ext cx="4706587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lang="fr-FR" sz="2400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Pour enregistrer et envoyer</a:t>
            </a:r>
            <a:endParaRPr sz="2400" b="1" dirty="0">
              <a:solidFill>
                <a:srgbClr val="1474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C97186-874B-1223-C9D9-F4D0DA3D6E27}"/>
              </a:ext>
            </a:extLst>
          </p:cNvPr>
          <p:cNvSpPr txBox="1"/>
          <p:nvPr/>
        </p:nvSpPr>
        <p:spPr>
          <a:xfrm>
            <a:off x="6096000" y="5438899"/>
            <a:ext cx="557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git commit –m « commentaire »  git push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329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2E4E24-9E40-4369-AAD3-4AECD939BF3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350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45C"/>
                </a:solidFill>
                <a:latin typeface="Arial"/>
                <a:ea typeface="Arial"/>
                <a:cs typeface="Arial"/>
              </a:rPr>
              <a:t>04  LIMITES ET AMÉLIORATIONS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DF363-C449-4DA6-85DF-FF313E5A575F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109728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600" b="1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Les </a:t>
            </a:r>
            <a:r>
              <a:rPr sz="3600" b="1" dirty="0" err="1">
                <a:solidFill>
                  <a:srgbClr val="142C28"/>
                </a:solidFill>
                <a:latin typeface="Arial"/>
                <a:ea typeface="Arial"/>
                <a:cs typeface="Arial"/>
              </a:rPr>
              <a:t>limites</a:t>
            </a:r>
            <a:r>
              <a:rPr sz="3600" b="1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 et les </a:t>
            </a:r>
            <a:r>
              <a:rPr lang="fr-FR" sz="3600" b="1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axes d’amélioration</a:t>
            </a:r>
            <a:endParaRPr sz="3600" b="1" dirty="0">
              <a:solidFill>
                <a:srgbClr val="142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198A4-AFC3-4712-97D4-8FAD832739A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VéloVille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· Lise · </a:t>
            </a:r>
            <a:r>
              <a:rPr sz="1200" b="0" dirty="0" err="1">
                <a:solidFill>
                  <a:srgbClr val="5B6C65"/>
                </a:solidFill>
                <a:latin typeface="Arial"/>
                <a:ea typeface="Arial"/>
                <a:cs typeface="Arial"/>
              </a:rPr>
              <a:t>Épreuve</a:t>
            </a:r>
            <a:r>
              <a:rPr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 E.2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66DE5E-B156-44E4-B202-63BD50E222AC}"/>
              </a:ext>
            </a:extLst>
          </p:cNvPr>
          <p:cNvSpPr>
            <a:spLocks noGrp="1"/>
          </p:cNvSpPr>
          <p:nvPr/>
        </p:nvSpPr>
        <p:spPr>
          <a:xfrm>
            <a:off x="10620375" y="6343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200" b="0">
                <a:solidFill>
                  <a:srgbClr val="5B6C65"/>
                </a:solidFill>
                <a:latin typeface="Arial"/>
                <a:ea typeface="Arial"/>
                <a:cs typeface="Arial"/>
              </a:defRPr>
            </a:pPr>
            <a:r>
              <a:rPr lang="fr-FR" sz="1200" b="0" dirty="0">
                <a:solidFill>
                  <a:srgbClr val="5B6C65"/>
                </a:solidFill>
                <a:latin typeface="Arial"/>
                <a:ea typeface="Arial"/>
                <a:cs typeface="Arial"/>
              </a:rPr>
              <a:t>11/11</a:t>
            </a:r>
            <a:endParaRPr sz="1200" b="0" dirty="0">
              <a:solidFill>
                <a:srgbClr val="5B6C6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AA88B5-BD17-4A98-A480-D9EE08035776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lang="fr-FR" dirty="0"/>
              <a:t>Compléter les tests automatisés des transitions d’incidents.</a:t>
            </a:r>
            <a:endParaRPr sz="2250" b="0" dirty="0">
              <a:solidFill>
                <a:srgbClr val="142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4E38C6-0535-4641-8A49-6C355708930E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lang="fr-FR" sz="2250" b="0" dirty="0">
                <a:solidFill>
                  <a:srgbClr val="142C28"/>
                </a:solidFill>
                <a:latin typeface="Arial"/>
                <a:ea typeface="Arial"/>
                <a:cs typeface="Arial"/>
              </a:rPr>
              <a:t>Utiliser une base dédiée aux tests.</a:t>
            </a:r>
            <a:endParaRPr sz="2250" b="0" dirty="0">
              <a:solidFill>
                <a:srgbClr val="142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1D647-AC31-46DA-86BB-B09A2849C480}"/>
              </a:ext>
            </a:extLst>
          </p:cNvPr>
          <p:cNvSpPr>
            <a:spLocks noGrp="1"/>
          </p:cNvSpPr>
          <p:nvPr/>
        </p:nvSpPr>
        <p:spPr>
          <a:xfrm>
            <a:off x="609600" y="35337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lang="fr-FR" dirty="0"/>
              <a:t>Réinitialiser automatiquement la pagination après un changement de filtre.</a:t>
            </a:r>
            <a:endParaRPr sz="2250" b="0" dirty="0">
              <a:solidFill>
                <a:srgbClr val="142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18039-4C9E-4C1D-B2D2-D5BE450F3F0D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142C28"/>
                </a:solidFill>
                <a:latin typeface="Arial"/>
                <a:ea typeface="Arial"/>
                <a:cs typeface="Arial"/>
              </a:defRPr>
            </a:pPr>
            <a:r>
              <a:rPr lang="fr-FR" dirty="0"/>
              <a:t>Vérifier l’installation sur un autre poste.</a:t>
            </a:r>
            <a:endParaRPr sz="2250" b="0" dirty="0">
              <a:solidFill>
                <a:srgbClr val="142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0D7DA9-FE32-47BF-A02C-19DA38294436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4745C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4745C"/>
                </a:solidFill>
                <a:latin typeface="Arial"/>
                <a:ea typeface="Arial"/>
                <a:cs typeface="Arial"/>
              </a:rPr>
              <a:t>Priorité</a:t>
            </a:r>
            <a:r>
              <a:rPr sz="1875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 : </a:t>
            </a:r>
            <a:r>
              <a:rPr sz="1875" b="1" dirty="0" err="1">
                <a:solidFill>
                  <a:srgbClr val="14745C"/>
                </a:solidFill>
                <a:latin typeface="Arial"/>
                <a:ea typeface="Arial"/>
                <a:cs typeface="Arial"/>
              </a:rPr>
              <a:t>une</a:t>
            </a:r>
            <a:r>
              <a:rPr sz="1875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 maintenance </a:t>
            </a:r>
            <a:r>
              <a:rPr sz="1875" b="1" dirty="0" err="1">
                <a:solidFill>
                  <a:srgbClr val="14745C"/>
                </a:solidFill>
                <a:latin typeface="Arial"/>
                <a:ea typeface="Arial"/>
                <a:cs typeface="Arial"/>
              </a:rPr>
              <a:t>fiable</a:t>
            </a:r>
            <a:r>
              <a:rPr sz="1875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 et des </a:t>
            </a:r>
            <a:r>
              <a:rPr sz="1875" b="1" dirty="0" err="1">
                <a:solidFill>
                  <a:srgbClr val="14745C"/>
                </a:solidFill>
                <a:latin typeface="Arial"/>
                <a:ea typeface="Arial"/>
                <a:cs typeface="Arial"/>
              </a:rPr>
              <a:t>résultats</a:t>
            </a:r>
            <a:r>
              <a:rPr sz="1875" b="1" dirty="0">
                <a:solidFill>
                  <a:srgbClr val="14745C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4745C"/>
                </a:solidFill>
                <a:latin typeface="Arial"/>
                <a:ea typeface="Arial"/>
                <a:cs typeface="Arial"/>
              </a:rPr>
              <a:t>reproductibles</a:t>
            </a:r>
            <a:endParaRPr sz="1875" b="1" dirty="0">
              <a:solidFill>
                <a:srgbClr val="14745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51418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793</Words>
  <Application>Microsoft Office PowerPoint</Application>
  <DocSecurity>0</DocSecurity>
  <PresentationFormat>Grand écran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Arial</vt:lpstr>
      <vt:lpstr>Consolas</vt:lpstr>
      <vt:lpstr>Wingdings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Lise DUBUCQUOY</cp:lastModifiedBy>
  <cp:revision>9</cp:revision>
  <dcterms:created xsi:type="dcterms:W3CDTF">2026-10-15T13:34:40Z</dcterms:created>
  <dcterms:modified xsi:type="dcterms:W3CDTF">2026-10-15T14:43:20Z</dcterms:modified>
</cp:coreProperties>
</file>